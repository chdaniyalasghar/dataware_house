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839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Climate Change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&amp; BI Dashboard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ETL Pipeline  •  Star Schema  •  Power BI Dashboard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Data Warehousing  •  Power BI + PostgreSQL + Python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114800" cy="59436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502920" cy="5943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6858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996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tools, and scope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35608"/>
            <a:ext cx="4114800" cy="59436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65760" y="1435608"/>
            <a:ext cx="502920" cy="5943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65760" y="14356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1435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1746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and system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85416"/>
            <a:ext cx="4114800" cy="59436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2185416"/>
            <a:ext cx="502920" cy="5943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365760" y="218541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21854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&amp; fact table structure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35224"/>
            <a:ext cx="4114800" cy="59436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365760" y="2935224"/>
            <a:ext cx="502920" cy="5943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365760" y="29352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2935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3246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Extract → Clean → Transform → Load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85032"/>
            <a:ext cx="4114800" cy="59436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365760" y="3685032"/>
            <a:ext cx="502920" cy="5943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365760" y="368503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" y="3995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pages, 11 interactive visualizations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685800"/>
            <a:ext cx="4114800" cy="59436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754880" y="685800"/>
            <a:ext cx="502920" cy="5943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754880" y="6858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21808" y="685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DAX Measures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996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tracked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435608"/>
            <a:ext cx="4114800" cy="59436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4754880" y="1435608"/>
            <a:ext cx="502920" cy="5943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754880" y="14356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21808" y="1435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SQL Queries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21808" y="1746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analytical queries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185416"/>
            <a:ext cx="4114800" cy="59436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4754880" y="2185416"/>
            <a:ext cx="502920" cy="5943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4754880" y="218541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21808" y="21854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21808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overview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2935224"/>
            <a:ext cx="4114800" cy="59436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4754880" y="2935224"/>
            <a:ext cx="502920" cy="5943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4754880" y="29352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21808" y="2935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321808" y="3246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and takeaways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end-to-end data warehouse for global climate change data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pipeline: Extract, Clean, Transform, Load into PostgreSQL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with 3 dimension tables and 1 central fact table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with 3 pages and 11 interactive visualizations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12+ climate &amp; energy KPIs across countries and decades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OLAP-ready SQL queries for deep analytical insights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0" y="594360"/>
            <a:ext cx="192024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029200" y="731520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0" y="1170432"/>
            <a:ext cx="192024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594360"/>
            <a:ext cx="1920240" cy="9601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7223760" y="731520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223760" y="1170432"/>
            <a:ext cx="192024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Stages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755648"/>
            <a:ext cx="1920240" cy="9601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0" y="1892808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92024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Visuals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1755648"/>
            <a:ext cx="1920240" cy="960120"/>
          </a:xfrm>
          <a:prstGeom prst="rect">
            <a:avLst/>
          </a:prstGeom>
          <a:solidFill>
            <a:srgbClr val="E8703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7223760" y="1892808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223760" y="2331720"/>
            <a:ext cx="192024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697480"/>
            <a:ext cx="3749040" cy="347472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029200" y="2697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Tools: Python  •  PostgreSQL  •  Power BI  •  Azure Maps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Business Intelligence &amp; Data Warehousing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097280" cy="9144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143000"/>
            <a:ext cx="146304" cy="0"/>
          </a:xfrm>
          <a:prstGeom prst="line">
            <a:avLst/>
          </a:prstGeom>
          <a:noFill/>
          <a:ln w="31750">
            <a:solidFill>
              <a:srgbClr val="17B89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517904" y="685800"/>
            <a:ext cx="1097280" cy="9144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517904" y="685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15184" y="1143000"/>
            <a:ext cx="146304" cy="0"/>
          </a:xfrm>
          <a:prstGeom prst="line">
            <a:avLst/>
          </a:prstGeom>
          <a:noFill/>
          <a:ln w="31750">
            <a:solidFill>
              <a:srgbClr val="17B89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761488" y="685800"/>
            <a:ext cx="1097280" cy="9144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2761488" y="685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58768" y="1143000"/>
            <a:ext cx="146304" cy="0"/>
          </a:xfrm>
          <a:prstGeom prst="line">
            <a:avLst/>
          </a:prstGeom>
          <a:noFill/>
          <a:ln w="31750">
            <a:solidFill>
              <a:srgbClr val="17B89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005072" y="685800"/>
            <a:ext cx="1097280" cy="9144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005072" y="685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02352" y="1143000"/>
            <a:ext cx="146304" cy="0"/>
          </a:xfrm>
          <a:prstGeom prst="line">
            <a:avLst/>
          </a:prstGeom>
          <a:noFill/>
          <a:ln w="31750">
            <a:solidFill>
              <a:srgbClr val="17B89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5248656" y="685800"/>
            <a:ext cx="1097280" cy="9144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248656" y="685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45936" y="1143000"/>
            <a:ext cx="146304" cy="0"/>
          </a:xfrm>
          <a:prstGeom prst="line">
            <a:avLst/>
          </a:prstGeom>
          <a:noFill/>
          <a:ln w="31750">
            <a:solidFill>
              <a:srgbClr val="17B89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492240" y="685800"/>
            <a:ext cx="1097280" cy="9144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492240" y="685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 schema)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1143000"/>
            <a:ext cx="146304" cy="0"/>
          </a:xfrm>
          <a:prstGeom prst="line">
            <a:avLst/>
          </a:prstGeom>
          <a:noFill/>
          <a:ln w="31750">
            <a:solidFill>
              <a:srgbClr val="17B89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7735824" y="685800"/>
            <a:ext cx="1097280" cy="914400"/>
          </a:xfrm>
          <a:prstGeom prst="rect">
            <a:avLst/>
          </a:prstGeom>
          <a:solidFill>
            <a:srgbClr val="E8703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7735824" y="685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1828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— 14 Columns per Record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224028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global_avg_temperature, co2_concentration_ppm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heatwave_days, flood_events_count, drought_index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sea_level_rise_mm, renewable_energy_share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fossil_fuel_consumption, air_quality_index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forest_cover_percent, deforestation_rate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climate_risk_index  +  2 derived KPI columns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1874520"/>
            <a:ext cx="1188720" cy="4114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846320" y="1874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874520"/>
            <a:ext cx="2743200" cy="41148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608076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(public schema)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359152"/>
            <a:ext cx="1188720" cy="4114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846320" y="23591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Language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2359152"/>
            <a:ext cx="2743200" cy="41148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080760" y="23591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2843784"/>
            <a:ext cx="1188720" cy="4114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4846320" y="284378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2843784"/>
            <a:ext cx="2743200" cy="41148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6080760" y="28437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psycopg2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3328416"/>
            <a:ext cx="1188720" cy="4114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4846320" y="33284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3328416"/>
            <a:ext cx="2743200" cy="41148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6080760" y="33284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(warehouse schema)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46320" y="3813048"/>
            <a:ext cx="1188720" cy="4114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4846320" y="38130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3813048"/>
            <a:ext cx="2743200" cy="41148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6080760" y="38130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46320" y="4297680"/>
            <a:ext cx="1188720" cy="4114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4846320" y="4297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Visual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35040" y="4297680"/>
            <a:ext cx="2743200" cy="41148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6080760" y="4297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Maps in Power BI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108960" y="1371600"/>
            <a:ext cx="2926080" cy="30175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10896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FACT_CLIMATE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54680" y="182880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time_id (FK)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country_id (FK)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energy_id (FK)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global_avg_temperature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co2_concentration_ppm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heatwave_days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flood_events_count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sea_level_rise_mm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renewable_energy_share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climate_risk_index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temp_anomaly [derived]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extreme_event_score [derived]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594360"/>
            <a:ext cx="2377440" cy="14173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978408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time_id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is_current_decade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691640"/>
            <a:ext cx="457200" cy="0"/>
          </a:xfrm>
          <a:prstGeom prst="line">
            <a:avLst/>
          </a:prstGeom>
          <a:noFill/>
          <a:ln w="254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2377440" cy="1417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274320" y="2377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DIM_COUNTRY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2761488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country_id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is_developing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2880360"/>
            <a:ext cx="457200" cy="0"/>
          </a:xfrm>
          <a:prstGeom prst="line">
            <a:avLst/>
          </a:prstGeom>
          <a:noFill/>
          <a:ln w="254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492240" y="1554480"/>
            <a:ext cx="2377440" cy="1600200"/>
          </a:xfrm>
          <a:prstGeom prst="rect">
            <a:avLst/>
          </a:prstGeom>
          <a:solidFill>
            <a:srgbClr val="E8703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92240" y="1554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DIM_ENERGY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193852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energy_id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energy_type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is_clean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606040"/>
            <a:ext cx="457200" cy="0"/>
          </a:xfrm>
          <a:prstGeom prst="line">
            <a:avLst/>
          </a:prstGeom>
          <a:noFill/>
          <a:ln w="254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8595360" cy="45720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Star Schema: 1 Fact Table  +  3 Dimension Tables  |  FK relationships via time_id, country_id, energy_id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Stages: Extract  →  Clean  →  Transform  →  Load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EXTRACT  &amp;  Stage 2: CLEAN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114800" cy="2011680"/>
          </a:xfrm>
          <a:prstGeom prst="rect">
            <a:avLst/>
          </a:prstGeom>
          <a:solidFill>
            <a:srgbClr val="EAF4F4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114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84048" y="594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EXTRACT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978408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PostgreSQL public.fact_climate_global OR CSV file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psycopg2 + pandas.read_sql()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Raw DataFrame with 500+ rows × 14 columns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python etl_pipeline.py  OR  --csv data/climate_raw.csv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594360"/>
            <a:ext cx="4114800" cy="2011680"/>
          </a:xfrm>
          <a:prstGeom prst="rect">
            <a:avLst/>
          </a:prstGeom>
          <a:solidFill>
            <a:srgbClr val="EAF4F4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754880" y="594360"/>
            <a:ext cx="4114800" cy="34747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864608" y="594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CLEAN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978408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column names (lowercase, strip spaces)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data types: year → Int64, numeric → float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(year, country) pairs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nulls with column median values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outliers using 1.5× IQR fence method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8595360" cy="205740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 — Extract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127248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pd.read_sql("SELECT * FROM public.fact_climate_global;", conn)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from CSV: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pd.read_csv("data/climate_raw.csv")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 — Clean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= df.columns.str.lower().str.strip()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df.drop_duplicates(subset=["year", "country"])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df.fillna(df.median(numeric_only=True))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TRANSFORM  &amp;  Stage 4: LOAD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114800" cy="2103120"/>
          </a:xfrm>
          <a:prstGeom prst="rect">
            <a:avLst/>
          </a:prstGeom>
          <a:solidFill>
            <a:srgbClr val="EAF4F4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114800" cy="34747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84048" y="594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TRANSFORM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978408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full Star Schema from clean DataFrame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dim_time: year, decade, era, is_current_decade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dim_country: country, region, is_developing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dim_energy: type, description, is_clean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temp_anomaly &amp; extreme_event_score on fact 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594360"/>
            <a:ext cx="4114800" cy="2103120"/>
          </a:xfrm>
          <a:prstGeom prst="rect">
            <a:avLst/>
          </a:prstGeom>
          <a:solidFill>
            <a:srgbClr val="EAF4F4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754880" y="594360"/>
            <a:ext cx="4114800" cy="347472"/>
          </a:xfrm>
          <a:prstGeom prst="rect">
            <a:avLst/>
          </a:prstGeom>
          <a:solidFill>
            <a:srgbClr val="E8703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864608" y="594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LOAD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978408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PostgreSQL schema 'warehouse'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insert via psycopg2.extras.execute_values()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UPSERT: ON CONFLICT DO UPDATE — safe to re-run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Loads: dim_time (35 rows), dim_country (15 rows)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Loads: dim_energy (3 rows), fact_climate (500 rows)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34640"/>
          <a:ext cx="8595360" cy="1783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warehouse.dim_time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year (1990–2025)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warehouse.dim_country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 with region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warehouse.dim_energy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Renewable, Fossil Fuel, Mixed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warehouse.fact_climate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climate measurements + derived KPIs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7C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  •  11 Interactive Visualizations  •  Azure Maps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&amp; Visualizations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2743200" cy="4114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Climate Indicators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743200" cy="352044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2560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Temperature Trend (Line Chart)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Emissions by Country (Bar Chart)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Heatwave Days Over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Events Count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Index Treemap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27832" y="594360"/>
            <a:ext cx="2743200" cy="4114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3319272" y="594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Energy &amp; Environment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7832" y="1005840"/>
            <a:ext cx="2743200" cy="352044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319272" y="1051560"/>
            <a:ext cx="2560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Over Decades (Area Chart)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vs Fossil Fuel (Stacked Bar)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Index by Region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Cover Percentage Trend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 Rate Scatter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594360"/>
            <a:ext cx="2834640" cy="411480"/>
          </a:xfrm>
          <a:prstGeom prst="rect">
            <a:avLst/>
          </a:prstGeom>
          <a:solidFill>
            <a:srgbClr val="E8703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272784" y="594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Geographic Risk Map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344" y="1005840"/>
            <a:ext cx="2834640" cy="3520440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272784" y="1051560"/>
            <a:ext cx="2651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Map: Climate Risk Index by Country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risk levels (Low / Med / High)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Setup: Get Data → PostgreSQL → Select warehouse schema tables → Verify FK relationships in Model View → Build visuals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DAX Measures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4114800" cy="1207008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182880" cy="120700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30352" y="69494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Global Temperature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078992"/>
            <a:ext cx="3749040" cy="566928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94360" y="10789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AVERAGE(fact_climate[global_avg_temperature])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621792"/>
            <a:ext cx="4114800" cy="1207008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754880" y="621792"/>
            <a:ext cx="182880" cy="120700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5010912" y="69494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CO₂ Emissions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10912" y="1078992"/>
            <a:ext cx="3749040" cy="566928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74920" y="10789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SUM(fact_climate[co2_concentration_ppm])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993392"/>
            <a:ext cx="4114800" cy="1207008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274320" y="1993392"/>
            <a:ext cx="182880" cy="120700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530352" y="206654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Climate Risk Index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352" y="2450592"/>
            <a:ext cx="3749040" cy="566928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94360" y="24505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AVERAGE(fact_climate[climate_risk_index])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993392"/>
            <a:ext cx="4114800" cy="1207008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754880" y="1993392"/>
            <a:ext cx="182880" cy="1207008"/>
          </a:xfrm>
          <a:prstGeom prst="rect">
            <a:avLst/>
          </a:prstGeom>
          <a:solidFill>
            <a:srgbClr val="E8703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010912" y="206654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Countries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10912" y="2450592"/>
            <a:ext cx="3749040" cy="566928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5074920" y="24505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COUNTROWS(FILTER(fact_climate, climate_risk_index &gt; 0.7))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364992"/>
            <a:ext cx="4114800" cy="1207008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274320" y="3364992"/>
            <a:ext cx="182880" cy="120700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530352" y="343814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Renewable Energy Share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" y="3822192"/>
            <a:ext cx="3749040" cy="566928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594360" y="38221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AVERAGE(fact_climate[renewable_energy_share])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364992"/>
            <a:ext cx="4114800" cy="1207008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754880" y="3364992"/>
            <a:ext cx="182880" cy="120700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5010912" y="343814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Event Score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10912" y="3822192"/>
            <a:ext cx="3749040" cy="566928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5074920" y="38221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Weighted: heatwaves + flood_events + drought_index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SQL Queries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114800" cy="3200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— Temperature Trend by Decade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0" cy="169164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t.decade,
       ROUND(AVG(f.global_avg_temperature)::numeric, 3)
       AS avg_temp,
       ROUND(AVG(f.co2_concentration_ppm)::numeric, 2)
       AS avg_co2
FROM warehouse.fact_climate f
JOIN warehouse.dim_time t ON f.time_id = t.time_id
GROUP BY t.decade ORDER BY t.decade;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594360"/>
            <a:ext cx="4114800" cy="3200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800600" y="594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— Top 5 High-Risk Countries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114800" cy="169164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846320" y="96012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c.country, c.region,
       ROUND(
         AVG(f.climate_risk_index)::numeric, 3
       ) AS avg_risk
FROM warehouse.fact_climate f
JOIN warehouse.dim_country c
  ON f.country_id = c.country_id
GROUP BY c.country, c.region
ORDER BY avg_risk DESC LIMIT 5;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7889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OLAP Queries?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3200400"/>
            <a:ext cx="8595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analysis across time, country, and energy dimensions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(AVG, SUM, COUNT) on large climate datasets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across star schema tables for cross-dimensional insights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queries for identifying high-risk nations and critical thresholds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Power BI visuals via DirectQuery or Import mode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114800" cy="896112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1325880" cy="89611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1234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Database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73352" y="6492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73352" y="10149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public.fact_climate_global — raw data table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594360"/>
            <a:ext cx="4114800" cy="896112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754880" y="594360"/>
            <a:ext cx="1325880" cy="8961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800600" y="594360"/>
            <a:ext cx="1234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Language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53912" y="6492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53912" y="10149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pipeline script: etl_pipeline.py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618488"/>
            <a:ext cx="4114800" cy="896112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274320" y="1618488"/>
            <a:ext cx="1325880" cy="89611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320040" y="1618488"/>
            <a:ext cx="1234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Libraries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73352" y="16733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•  numpy  •  psycopg2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73352" y="20391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processing, cleaning, DB connection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618488"/>
            <a:ext cx="4114800" cy="896112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754880" y="1618488"/>
            <a:ext cx="1325880" cy="89611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800600" y="1618488"/>
            <a:ext cx="1234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53912" y="16733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(warehouse schema)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53912" y="20391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4 tables, UPSERT-safe loading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42616"/>
            <a:ext cx="4114800" cy="896112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274320" y="2642616"/>
            <a:ext cx="1325880" cy="8961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320040" y="2642616"/>
            <a:ext cx="1234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73352" y="2697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73352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pages, 11 visuals, DAX measures, DirectQuery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642616"/>
            <a:ext cx="4114800" cy="896112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754880" y="2642616"/>
            <a:ext cx="1325880" cy="89611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800600" y="2642616"/>
            <a:ext cx="1234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Language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53912" y="2697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53912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measures for KPIs and aggregations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666744"/>
            <a:ext cx="4114800" cy="896112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274320" y="3666744"/>
            <a:ext cx="1325880" cy="896112"/>
          </a:xfrm>
          <a:prstGeom prst="rect">
            <a:avLst/>
          </a:prstGeom>
          <a:solidFill>
            <a:srgbClr val="E8703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320040" y="3666744"/>
            <a:ext cx="1234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673352" y="37216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Maps (Power BI visual)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673352" y="40873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Climate Risk Index map by country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666744"/>
            <a:ext cx="4114800" cy="896112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4754880" y="3666744"/>
            <a:ext cx="1325880" cy="896112"/>
          </a:xfrm>
          <a:prstGeom prst="rect">
            <a:avLst/>
          </a:prstGeom>
          <a:solidFill>
            <a:srgbClr val="E8703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4800600" y="3666744"/>
            <a:ext cx="1234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53912" y="37216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/ Windows Task Scheduler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53912" y="40873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refresh (weekly recommended)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end-to-end data warehouse pipeline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4-stage ETL: Extract → Clean → Transform → Load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with 500+ rows across 4 normalized tables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interactive BI visualizations across 3 dashboard pages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queries enabling multi-dimensional climate analysis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risk visualization using Azure Maps integration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re-runnable UPSERT pipeline with conflict handling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594360"/>
            <a:ext cx="4206240" cy="34747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709160" y="594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987552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design with star schema normalization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best practices: error handling, logging, type safety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outlier detection for real-world messy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modeling with fact-dimension relationships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creation for business-relevant KPIs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query design for multi-dimensional analysis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BI visualization with Azure Maps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7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tells the story of our planet — this warehouse makes it readable."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7B89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7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Climate Change Data Warehouse &amp; BI Dashboard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D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Data Warehousing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1663</Words>
  <Application>Microsoft Office PowerPoint</Application>
  <PresentationFormat>On-screen Show (16:9)</PresentationFormat>
  <Paragraphs>272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Climate Change Data Warehouse &amp; BI Dashboard</dc:title>
  <dc:subject>PptxGenJS Presentation</dc:subject>
  <dc:creator>PptxGenJS</dc:creator>
  <cp:lastModifiedBy>Daniyal Saeed</cp:lastModifiedBy>
  <cp:revision>2</cp:revision>
  <dcterms:created xsi:type="dcterms:W3CDTF">2026-05-13T04:38:42Z</dcterms:created>
  <dcterms:modified xsi:type="dcterms:W3CDTF">2026-05-13T04:51:30Z</dcterms:modified>
</cp:coreProperties>
</file>